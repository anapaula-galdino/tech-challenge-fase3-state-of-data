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Apresentar o objetivo em uma frase: entender o mercado brasileiro de dados para orientar contratação, capacitação e investimento.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mensagens que sustentam todo o material. Cada uma vira uma decisão na última seção.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problema de negócio em três blocos. Fio condutor do material inteiro.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Preparar a próxima seção: a base parece simples e não é. É aqui que o trabalho técnico começa.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Bronze guarda o dado cru, Silver harmoniza, Gold responde a pergunta de negócio. Athena consulta, Glue processa, tudo em us-east-1.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 essa regra, toda a série histórica seria inválida sem que ninguém percebesse. Não correr neste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recomendação amarra em um número apresentado antes. Nenhuma opinião sem dado por trás.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Declarar a limitação antes que alguém pergunte é o que separa análise de opinião.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retomando a promessa da abertura, citar o repositório público e abrir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naPaula-Galdino/tech-challenge-fase3-state-of-data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naPaula-Galdino/tech-challenge-fase3-state-of-data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B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mercado brasileiro de dados,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três edições da mesma pesquisa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8862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Fase 3  ·  Engenharia de Dados e Analytics em ambiente AWS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5120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Paula Corrêa Galdino  ·  RM370461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440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POSTECH, Data Analytics (DTAT)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5440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Setembro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4E8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SUMÁRIO EXECUTIVO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virou prioridade, o talento sênior encareceu e a diversidade regrediu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69164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60,6%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2331720" y="1709928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respondentes dizem que a empresa prioriza IA generativa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2039112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Eram 36,2% duas edições atrás. Apenas 26,5% declaram projetos em produção gerando resultado.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89864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+40%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2331720" y="2916936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faixa salarial mediana do profissional Sênior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3246120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Júnior e Pleno ficaram parados nas três edições. Contratar pronto encareceu, formar não.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105656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22,0%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2331720" y="4123944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participação feminina, em queda nas duas transições da série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4453128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Eram 24,4% na primeira edição. A direção é a mesma nas três, não é oscilação de amostra.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5312664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39,7%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2331720" y="5330952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trabalho totalmente remoto, contra 46,3% antes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5660136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 modelos flexíveis pagam R$ 14.000 de mediana, contra R$ 7.000 no presencial integral.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635508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State of Data Brazil, Data Hackers e Bain, edições 2023-2024, 2024-2025 e 2025-2026.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4E8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decisão do cliente depende de evidência que ele não 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611880" cy="2880360"/>
          </a:xfrm>
          <a:prstGeom prst="roundRect">
            <a:avLst>
              <a:gd name="adj" fmla="val 1905"/>
            </a:avLst>
          </a:prstGeom>
          <a:solidFill>
            <a:srgbClr val="F5F8FA"/>
          </a:solidFill>
          <a:ln w="12700">
            <a:solidFill>
              <a:srgbClr val="C9D3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95528" y="2011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E8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95528" y="23774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Expandir a área de dados e IA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95528" y="320040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instituição financeira de grande porte precisa definir contratação, capacitação e investimento em tecnologia.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611880" cy="2880360"/>
          </a:xfrm>
          <a:prstGeom prst="roundRect">
            <a:avLst>
              <a:gd name="adj" fmla="val 1905"/>
            </a:avLst>
          </a:prstGeom>
          <a:solidFill>
            <a:srgbClr val="F5F8FA"/>
          </a:solidFill>
          <a:ln w="12700">
            <a:solidFill>
              <a:srgbClr val="C9D3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36008" y="2011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E8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COMPLICAÇÃO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636008" y="23774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Faltam evidências sobre o mercado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636008" y="320040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Salário, senioridade, stack e modelo de trabalho mudam rápido, e a percepção interna não acompanha.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83880" y="1691640"/>
            <a:ext cx="3611880" cy="2880360"/>
          </a:xfrm>
          <a:prstGeom prst="roundRect">
            <a:avLst>
              <a:gd name="adj" fmla="val 1905"/>
            </a:avLst>
          </a:prstGeom>
          <a:solidFill>
            <a:srgbClr val="F5F8FA"/>
          </a:solidFill>
          <a:ln w="12700">
            <a:solidFill>
              <a:srgbClr val="C9D3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76488" y="2011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E8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RESOLUÇÃO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476488" y="23774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edições da mesma pesquisa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476488" y="320040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14.005 respostas do State of Data Brazil, processadas em um data lake na AWS e lidas como série histórica.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48920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análises deste material respondem a uma dessas três decisões, e nenhuma recomendação aparece sem o número que a sustenta.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635508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enunciado do Tech Challenge Fase 3 e pesquisa State of Data Brazil.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4E8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edições, mais de mil colunas, uma base que não se une sozinha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2697480" cy="2377440"/>
          </a:xfrm>
          <a:prstGeom prst="roundRect">
            <a:avLst>
              <a:gd name="adj" fmla="val 2308"/>
            </a:avLst>
          </a:prstGeom>
          <a:solidFill>
            <a:srgbClr val="F5F8FA"/>
          </a:solidFill>
          <a:ln w="12700">
            <a:solidFill>
              <a:srgbClr val="C9D3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1031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14.005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9718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respostas nas três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edições da pesquisa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737360"/>
            <a:ext cx="2697480" cy="2377440"/>
          </a:xfrm>
          <a:prstGeom prst="roundRect">
            <a:avLst>
              <a:gd name="adj" fmla="val 2308"/>
            </a:avLst>
          </a:prstGeom>
          <a:solidFill>
            <a:srgbClr val="F5F8FA"/>
          </a:solidFill>
          <a:ln w="12700">
            <a:solidFill>
              <a:srgbClr val="C9D3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66160" y="21031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1.190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9718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 somadas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as edições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2697480" cy="2377440"/>
          </a:xfrm>
          <a:prstGeom prst="roundRect">
            <a:avLst>
              <a:gd name="adj" fmla="val 2308"/>
            </a:avLst>
          </a:prstGeom>
          <a:solidFill>
            <a:srgbClr val="F5F8FA"/>
          </a:solidFill>
          <a:ln w="12700">
            <a:solidFill>
              <a:srgbClr val="C9D3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21031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9718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 diferentes 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nomenclatura de coluna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0" y="1737360"/>
            <a:ext cx="2697480" cy="2377440"/>
          </a:xfrm>
          <a:prstGeom prst="roundRect">
            <a:avLst>
              <a:gd name="adj" fmla="val 2308"/>
            </a:avLst>
          </a:prstGeom>
          <a:solidFill>
            <a:srgbClr val="F5F8FA"/>
          </a:solidFill>
          <a:ln w="12700">
            <a:solidFill>
              <a:srgbClr val="C9D3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26880" y="21031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0" y="29718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códigos que mudam 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significado entre edições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45720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Edições utilizadas: 2023-2024, 2024-2025 e 2025-2026, as três últimas publicadas pelo Data Hackers, conforme exige o enunciado.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49560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o tratamento restam 14.002 linhas: três registros eram duplicatas integralmente idênticas e foram removidos.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532180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arquivo foi aberto ou salvo em planilha antes da ingestão, para preservar codificação, separador e formato de origem na camada Bronze.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635508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State of Data Brazil, Data Hackers e Bain, edições 2023-2024, 2024-2025 e 2025-2026.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4E8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DA SOLUÇÃO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data lake em camadas, com todo o processamento em Spark</a:t>
            </a:r>
            <a:endParaRPr lang="en-US" sz="2800" dirty="0"/>
          </a:p>
        </p:txBody>
      </p:sp>
      <p:pic>
        <p:nvPicPr>
          <p:cNvPr id="4" name="Image 0" descr="Diagrama da arquitetura da solução na AWS, do arquivo de origem no Kaggle até o material executivo, passando pelas camadas Bronze, Silver e Gold no Amazon S3, pelos dois jobs do AWS Glue em PySpark, pelo Glue Data Catalog e pelo Amazon Athen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645920"/>
            <a:ext cx="11155680" cy="444398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635508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construído e exportado no Draw.io. O arquivo editável .drawio acompanha a entrega.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4E8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código da pergunta muda de significado entre as edições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6766560" cy="2514600"/>
          </a:xfrm>
          <a:prstGeom prst="roundRect">
            <a:avLst>
              <a:gd name="adj" fmla="val 1818"/>
            </a:avLst>
          </a:prstGeom>
          <a:solidFill>
            <a:srgbClr val="F5F8FA"/>
          </a:solidFill>
          <a:ln w="12700">
            <a:solidFill>
              <a:srgbClr val="C9D3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10512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código 2.q, em três edições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677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E8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2023-2024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2377440" y="226771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ocorrência de demissões em massa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517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E8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2024-2025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2377440" y="26517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ocorrência de demissões em massa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0358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E8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2025-2026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2377440" y="3035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trabalho atual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456432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Unir as bases pelo código produziria um gráfico comparando demissões com trabalho remoto, sem gerar erro algum na execução.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635240" y="173736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 adotada: tripla confirmação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635240" y="2121408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da pergunta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integral da pergunta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categorias observadas nos dados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635240" y="331012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entra na série histórica a coluna aprovada nos três critérios. O mapa completo das 237 colunas equivalentes acompanha a entrega.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4617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E8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330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5074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códigos existem nas três edições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383280" y="4617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E8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3383280" y="5074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deles mudam de pergunta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4617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E8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237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5074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 são equivalentes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9144000" y="4617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E8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0" y="5074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delas trocaram de código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635508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análise própria sobre os cabeçalhos das três edições da pesquisa.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4E8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DO MERCADO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Finanças e tecnologia concentram mais de um terço do mercado</a:t>
            </a:r>
            <a:endParaRPr lang="en-US" sz="2800" dirty="0"/>
          </a:p>
        </p:txBody>
      </p:sp>
      <p:pic>
        <p:nvPicPr>
          <p:cNvPr id="4" name="Image 0" descr="Finanças e tecnologia concentram mais de um terço do merca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81328"/>
            <a:ext cx="7900416" cy="43891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549640" y="173736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estão os profissionais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549640" y="2066544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 maiores setores somam 36,0% dos respondentes. A diferença entre eles, de 1,1 ponto, não é significativa a 95% de confiança: é empate na liderança.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549640" y="333756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isso significa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549640" y="3666744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 disputa talento em um dos dois maiores empregadores de dados do país, contra concorrentes diretos e contra empresas de tecnologia.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635508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State of Data Brazil, edição 2025-2026, 3.227 respostas válidas para a pergunta de setor.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4E8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DO MERCADO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concentração no Sudeste aumentou em vez de ceder ao trabalho remoto</a:t>
            </a:r>
            <a:endParaRPr lang="en-US" sz="2800" dirty="0"/>
          </a:p>
        </p:txBody>
      </p:sp>
      <p:pic>
        <p:nvPicPr>
          <p:cNvPr id="4" name="Image 0" descr="A concentração no Sudeste aumentou em vez de ceder ao trabalho remo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81328"/>
            <a:ext cx="7900416" cy="43891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549640" y="160020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Concentração crescente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549640" y="1929384"/>
            <a:ext cx="31546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Sudeste sai de 61,4% para 64,4% entre a primeira e a última edição, sem qualquer sinal de dispersão geográfica.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8549640" y="304495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para contratação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549640" y="3374136"/>
            <a:ext cx="31546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talento fora do eixo tradicional continua sendo exceção, e não a regra do mercado.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8549640" y="448970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não muda com a região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549640" y="4818888"/>
            <a:ext cx="31546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faixa salarial mediana é R$ 10.000 nas cinco regiões, sem exceção. Contratar fora do Sudeste amplia o alcance, mas não reduz o custo por profissional.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635508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State of Data Brazil, Data Hackers e Bain, edições 2023-2024, 2024-2025 e 2025-2026.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4E8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PERFIS VALORIZADOS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faixa mediana do Sênior subiu 40% e as de entrada não se moveram</a:t>
            </a:r>
            <a:endParaRPr lang="en-US" sz="2800" dirty="0"/>
          </a:p>
        </p:txBody>
      </p:sp>
      <p:pic>
        <p:nvPicPr>
          <p:cNvPr id="4" name="Image 0" descr="A faixa mediana do Sênior subiu 40% e as de entrada não se move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81328"/>
            <a:ext cx="7900416" cy="43891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549640" y="160020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mudou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549640" y="1929384"/>
            <a:ext cx="31546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Sênior saiu de R$ 10.000 para R$ 14.000 entre a primeira e a segunda edição e estabilizou. Júnior e Pleno não se moveram.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8549640" y="304495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decisão que isso força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549640" y="3374136"/>
            <a:ext cx="31546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preço da senioridade pronta subiu 40% e o do Pleno permaneceu inalterado. Formar internamente ficou relativamente mais barato do que disputar um profissional Sênior no mercado.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8549640" y="448970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topo novo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549640" y="4818888"/>
            <a:ext cx="31546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edição 2025-2026 criou o nível Especialista/Staff+, com mediana de R$ 18.000 sobre 349 respostas. Por existir em uma só edição, ele fica fora da série histórica.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635508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State of Data Brazil. Mediana do ponto médio da faixa declarada, não salário médio. Valores nominais, sem correção pela inflação do período.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4E8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PERFIS VALORIZADOS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de dados e machine learning lideram a mediana salarial</a:t>
            </a:r>
            <a:endParaRPr lang="en-US" sz="2800" dirty="0"/>
          </a:p>
        </p:txBody>
      </p:sp>
      <p:pic>
        <p:nvPicPr>
          <p:cNvPr id="4" name="Image 0" descr="Engenharia de dados e machine learning lideram a mediana salari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81328"/>
            <a:ext cx="7900416" cy="43891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549640" y="160020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o mercado paga melhor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549640" y="1929384"/>
            <a:ext cx="31546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cargo de ML e AI Engineer lidera, com mediana de R$ 18.000. Engenharia e Arquitetura de Dados, Analytics Engineer e Data Product Manager vêm em seguida, todos em R$ 14.000.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8549640" y="304495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distância dentro da área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549640" y="3374136"/>
            <a:ext cx="31546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de Dados, de BI e de Negócios ficam em R$ 7.000, metade da mediana dos cargos de engenharia. O rótulo genérico de profissional de dados esconde uma diferença de duas vezes entre as pontas.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8549640" y="448970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para o cliente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549640" y="4818888"/>
            <a:ext cx="31546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expansão prevê plataforma e IA, o orçamento por posição parte de R$ 14.000. Se prevê consumo analítico, parte de R$ 7.000.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635508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State of Data Brazil, edição 2025-2026. Omitidos os cargos com menos de 30 respostas e a categoria Outra Opção, com 206 respostas. Valores nominais.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4E8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DIVERSIDADE DE GÊNERO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participação feminina cai edição após edição, de 24,4% para 22,0%</a:t>
            </a:r>
            <a:endParaRPr lang="en-US" sz="2800" dirty="0"/>
          </a:p>
        </p:txBody>
      </p:sp>
      <p:pic>
        <p:nvPicPr>
          <p:cNvPr id="4" name="Image 0" descr="A participação feminina cai edição após edição, de 24,4% para 22,0%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81328"/>
            <a:ext cx="7900416" cy="43891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549640" y="173736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Tendência, não ruído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549640" y="2066544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2,5 pontos perdidos nas duas transições da série, sempre na mesma direção, sobre bases de 5.293, 5.215 e 3.494 respostas.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549640" y="333756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para o cliente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549640" y="3666744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base que encolhe reduz o alcance de qualquer meta de diversidade construída sobre contratação externa.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635508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State of Data Brazil, Data Hackers e Bain, edições 2023-2024, 2024-2025 e 2025-2026.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4E8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DIVERSIDADE DE GÊNERO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Proporcionalmente, mais mulheres na entrada e menos no topo</a:t>
            </a:r>
            <a:endParaRPr lang="en-US" sz="2800" dirty="0"/>
          </a:p>
        </p:txBody>
      </p:sp>
      <p:pic>
        <p:nvPicPr>
          <p:cNvPr id="4" name="Image 0" descr="Proporcionalmente, mais mulheres na entrada e menos no top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81328"/>
            <a:ext cx="7900416" cy="43891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549640" y="173736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funil aperta na senioridade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549640" y="2066544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as mulheres, 25,7% estão no nível Júnior, contra 19,1% entre os homens. No Sênior a relação se inverte, 31,4% contra 35,2%.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549640" y="333756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agir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549640" y="3666744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gargalo está na progressão, não apenas na porta de entrada. Programas de promoção interna atacam a causa certa.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635508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State of Data Brazil, edição 2025-2026. O nível Especialista/Staff+ existe apenas nesta edição.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4E8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lidera nas três edições, e o SQL aparece ao lado dele em 2025-2026</a:t>
            </a:r>
            <a:endParaRPr lang="en-US" sz="2800" dirty="0"/>
          </a:p>
        </p:txBody>
      </p:sp>
      <p:pic>
        <p:nvPicPr>
          <p:cNvPr id="4" name="Image 0" descr="Python lidera nas três edições, e o SQL aparece ao lado dele em 2025-202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81328"/>
            <a:ext cx="7900416" cy="43891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549640" y="173736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estável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549640" y="2066544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é a linguagem mais citada nas três edições, entre 88,0% e 92,0%, sem concorrente próximo enquanto a pergunta admitia uma só resposta.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549640" y="333756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 na leitura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549640" y="3666744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salto do SQL, de 2,1% para 84,2%, vem da mudança de formato: em 2025-2026 a pergunta passou a aceitar várias respostas. Não é crescimento de mercado. Por isso a métrica é a menção, e a soma supera 100% naquela edição.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635508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State of Data Brazil. Percentual de respondentes que citam a linguagem como preferida.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4E8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lidera na nuvem e o Power BI lidera em BI, mas um terço não tem preferência</a:t>
            </a:r>
            <a:endParaRPr lang="en-US" sz="2800" dirty="0"/>
          </a:p>
        </p:txBody>
      </p:sp>
      <p:pic>
        <p:nvPicPr>
          <p:cNvPr id="4" name="Image 0" descr="AWS lidera na nuvem e o Power BI lidera em BI, mas um terço não tem preferênc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81328"/>
            <a:ext cx="7900416" cy="43891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549640" y="160020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Nuvem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549640" y="1929384"/>
            <a:ext cx="31546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é citada por 31,7% dos 2.095 que responderam, à frente de Google Cloud, com 20,6%, e Azure, com 14,7%. Considerando apenas quem declara preferência, a AWS chega a 47,0%.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8549640" y="304495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Visualização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549640" y="3374136"/>
            <a:ext cx="31546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é citado por 50,5% dos 1.866 que responderam, cinco vezes o segundo colocado, e chega a 65,6% entre quem declara preferência.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8549640" y="448970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pergunta mede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549640" y="4818888"/>
            <a:ext cx="31546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pesquisa pergunta preferência, não uso. Um terço não tem preferência de nuvem, o que sugere decisão tomada acima do profissional. A solução deste projeto roda em AWS, a nuvem com mais gente pronta no mercado.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635508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State of Data Brazil, edição 2025-2026. Bases de 2.095 e 1.866 respostas. Percentuais sobre o total que respondeu, incluindo quem não declara preferência.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4E8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ADOÇÃO DE INTELIGÊNCIA ARTIFICIAL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prioridade declarada da IA cresceu dois terços e a rejeição caiu mais da metade</a:t>
            </a:r>
            <a:endParaRPr lang="en-US" sz="2800" dirty="0"/>
          </a:p>
        </p:txBody>
      </p:sp>
      <p:pic>
        <p:nvPicPr>
          <p:cNvPr id="4" name="Image 0" descr="A prioridade declarada da IA cresceu dois terços e a rejeição caiu mais da meta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81328"/>
            <a:ext cx="7900416" cy="43891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549640" y="173736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 mudança do período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549640" y="2066544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prioridade declarada passou de 36,2% para 60,6% em duas edições, alta de 68%, e a rejeição caiu de 28,8% para 11,3%, queda de 61%. Nenhum outro indicador se moveu tanto.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549640" y="333756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janela está aberta agora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549640" y="3666744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estrutura a área de IA neste ciclo entra junto com o mercado. Quem esperar mais uma edição entra atrasado.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635508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State of Data Brazil. A pergunta é respondida por quem trabalha em empresa: bases de 896, 1.045 e 652 respostas válidas.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4E8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ADOÇÃO DE INTELIGÊNCIA ARTIFICIAL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duas edições, a IA saiu da margem e virou pauta de orçamento</a:t>
            </a:r>
            <a:endParaRPr lang="en-US" sz="2800" dirty="0"/>
          </a:p>
        </p:txBody>
      </p:sp>
      <p:pic>
        <p:nvPicPr>
          <p:cNvPr id="4" name="Image 0" descr="Em duas edições, a IA saiu da margem e virou pauta de orçamen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81328"/>
            <a:ext cx="7900416" cy="43891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549640" y="173736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detalhe da mudança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549640" y="2066544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crescimento vem das duas faixas de prioridade declarada, com discussão de orçamento, e não de uso informal.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549640" y="333756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ficou para trás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549640" y="3666744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11,3% dos respondentes dizem que a IA não é prioridade na empresa, contra 28,8% duas edições atrás.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635508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State of Data Brazil. A pergunta é respondida por quem trabalha em empresa: bases de 896, 1.045 e 652 respostas válidas.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4E8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ADOÇÃO DE INTELIGÊNCIA ARTIFICIAL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prioridade já virou consenso, o resultado em produção ainda não</a:t>
            </a:r>
            <a:endParaRPr lang="en-US" sz="2800" dirty="0"/>
          </a:p>
        </p:txBody>
      </p:sp>
      <p:pic>
        <p:nvPicPr>
          <p:cNvPr id="4" name="Image 0" descr="A prioridade já virou consenso, o resultado em produção ainda nã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81328"/>
            <a:ext cx="7900416" cy="43891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549640" y="160020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tamanho da lacuna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549640" y="1929384"/>
            <a:ext cx="31546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Enquanto 60,6% declaram a IA como prioridade, apenas 26,5% dizem ter projetos em produção gerando resultado no negócio.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8549640" y="304495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mercado está parado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549640" y="3374136"/>
            <a:ext cx="31546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pilotos sem impacto declarado somam 38,4%. Com os 15,0% ainda em planejamento, mais da metade do mercado não saiu da experimentação.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8549640" y="448970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oportunidade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549640" y="4818888"/>
            <a:ext cx="31546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disputa deixou de ser por adotar IA e passou a ser por operacionalizar. Quem tira o piloto do papel primeiro captura o diferencial.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635508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State of Data Brazil, edição 2025-2026, 646 respostas válidas. Pergunta existente apenas nesta edição.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4E8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TRABALHO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trabalho remoto recua e o presencial avança</a:t>
            </a:r>
            <a:endParaRPr lang="en-US" sz="2800" dirty="0"/>
          </a:p>
        </p:txBody>
      </p:sp>
      <p:pic>
        <p:nvPicPr>
          <p:cNvPr id="4" name="Image 0" descr="O trabalho remoto recua e o presencial avanç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81328"/>
            <a:ext cx="7900416" cy="43891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549640" y="173736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Movimento recente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549640" y="2066544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remoto integral caiu 6,6 pontos e o presencial integral subiu 4,1, concentrados na última edição.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549640" y="333756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Contramão da preferência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549640" y="3666744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que mais encolhe está entre os dois de maior satisfação declarada, empatados no topo, como mostra o gráfico seguinte.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635508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State of Data Brazil, Data Hackers e Bain, edições 2023-2024, 2024-2025 e 2025-2026.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4E8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RETENÇÃO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Flexibilidade, e não o remoto puro, separa satisfeitos de insatisfeitos</a:t>
            </a:r>
            <a:endParaRPr lang="en-US" sz="2800" dirty="0"/>
          </a:p>
        </p:txBody>
      </p:sp>
      <p:pic>
        <p:nvPicPr>
          <p:cNvPr id="4" name="Image 0" descr="Flexibilidade, e não o remoto puro, separa satisfeitos de insatisfeit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81328"/>
            <a:ext cx="7900416" cy="43891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549640" y="160020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os dados dizem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549640" y="1929384"/>
            <a:ext cx="31546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Remoto integral e híbrido flexível empatam no topo, com 74,5% e 75,0%. A diferença de 0,5 ponto não é significativa a 95%, com z igual a 0,23.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8549640" y="304495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está a diferença real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549640" y="3374136"/>
            <a:ext cx="31546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separação está entre ter e não ter flexibilidade: 20,9 pontos entre o híbrido flexível, com 75,0%, e o presencial integral, com 54,0%.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8549640" y="448970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Consequência prática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549640" y="4818888"/>
            <a:ext cx="31546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de trabalho deixa de ser assunto administrativo e passa a ser instrumento de retenção de talento escasso.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635508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State of Data Brazil, edição 2025-2026. Bases de 1.281, 631, 645 e 670 respostas por modelo.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4E8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RECOMENDAÇÕES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decisões que os dados sustentam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11155680" cy="1325880"/>
          </a:xfrm>
          <a:prstGeom prst="roundRect">
            <a:avLst>
              <a:gd name="adj" fmla="val 3448"/>
            </a:avLst>
          </a:prstGeom>
          <a:solidFill>
            <a:srgbClr val="F5F8FA"/>
          </a:solidFill>
          <a:ln w="12700">
            <a:solidFill>
              <a:srgbClr val="C9D3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4E8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CONTRATAR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788920" y="1856232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Contratar no meio da carreira e promover por dentro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2788920" y="2203704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faixa mediana do Sênior subiu 40% em duas edições e a do Pleno não se moveu. O prêmio pago por senioridade pronta cresceu, o custo de quem ainda vai chegar lá não, e a disputa acontece em um dos dois maiores empregadores de dados do país.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3154680"/>
            <a:ext cx="11155680" cy="1325880"/>
          </a:xfrm>
          <a:prstGeom prst="roundRect">
            <a:avLst>
              <a:gd name="adj" fmla="val 3448"/>
            </a:avLst>
          </a:prstGeom>
          <a:solidFill>
            <a:srgbClr val="F5F8FA"/>
          </a:solidFill>
          <a:ln w="12700">
            <a:solidFill>
              <a:srgbClr val="C9D3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4E8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CAPACITAR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3319272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Tratar IA generativa como competência de todo o time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788920" y="3666744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em cada dez respondentes dizem que a empresa já priorizou IA, mas apenas 26,5% declaram projetos em produção gerando resultado. A vantagem competitiva não está mais em adotar, e sim em sair do piloto, o que depende de gente treinada dentro de casa.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4617720"/>
            <a:ext cx="11155680" cy="1325880"/>
          </a:xfrm>
          <a:prstGeom prst="roundRect">
            <a:avLst>
              <a:gd name="adj" fmla="val 3448"/>
            </a:avLst>
          </a:prstGeom>
          <a:solidFill>
            <a:srgbClr val="F5F8FA"/>
          </a:solidFill>
          <a:ln w="12700">
            <a:solidFill>
              <a:srgbClr val="C9D3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4E8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INVESTIR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788920" y="4782312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flexibilidade de trabalho como instrumento de retenção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788920" y="5129784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 modelos flexíveis pagam mediana de R$ 14.000, contra R$ 7.000 no presencial integral, e concentram a maior satisfação declarada. Com o remoto encolhendo 6,6 pontos no mercado, manter flexibilidade é alavanca de retenção e de custo ao mesmo tempo.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635508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State of Data Brazil, Data Hackers e Bain, edições 2023-2024, 2024-2025 e 2025-2026.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4E8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E LIMITAÇÕES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sustenta os números, e o que eles não podem dizer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73736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os números foram apurados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212848"/>
            <a:ext cx="5394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Arquivos originais preservados na camada Bronze, sem tratamento prévio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 confirmadas por código, texto da pergunta e categorias observadas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de digitação da pesquisa de origem corrigidos e documentados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principais recalculados por caminho independente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Diferenças entre categorias testadas antes de virarem afirmação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355080" y="173736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os dados não permitem afirmar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355080" y="2212848"/>
            <a:ext cx="5303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pesquisa é voluntária: descreve a comunidade respondente, não o país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remuneração é coletada em faixas, então não existe salário médio aqui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valores são nominais: a variação não desconta a inflação do período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perguntas sobre IA são respondidas só por quem trabalha em empresa, com base menor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última edição tem menos respondentes, por isso toda comparação é percentual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de uma só edição não entram em série histórica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nível Especialista/Staff+ existe apenas na edição mais recente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51389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o código, os notebooks executados e as consultas SQL acompanham a entrega e reproduzem estes números do zero.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550468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público com todo o material: </a:t>
            </a:r>
            <a:pPr indent="0" marL="0">
              <a:buNone/>
            </a:pPr>
            <a:r>
              <a:rPr lang="en-US" sz="1300" u="sng" dirty="0">
                <a:solidFill>
                  <a:srgbClr val="4E809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github.com/AnaPaula-Galdino/tech-challenge-fase3-state-of-data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635508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apuração própria sobre a camada Gold, reproduzível pelos notebooks e consultas SQL entregues.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32B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5146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Obrigada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42900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mercado brasileiro de dados está mais caro no topo, mais concentrado do que parece e mais decidido sobre IA do que estava há dois anos. As três decisões deste material saem daí.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956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o material, código, notebooks e documentação: </a:t>
            </a:r>
            <a:pPr indent="0" marL="0">
              <a:buNone/>
            </a:pPr>
            <a:r>
              <a:rPr lang="en-US" sz="1300" u="sng" dirty="0">
                <a:solidFill>
                  <a:srgbClr val="8FBCD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github.com/AnaPaula-Galdino/tech-challenge-fase3-state-of-data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394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Paula Corrêa Galdino  ·  RM370461  ·  POSTECH Data Analytics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FIAP, POSTECH Data Analytics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 Challenge Fase 3, o mercado brasileiro de dados</dc:title>
  <dc:subject>Tech Challenge Fase 3, POSTECH Data Analytics, FIAP</dc:subject>
  <dc:creator>Ana Paula Correa Galdino</dc:creator>
  <cp:lastModifiedBy>Ana Paula Correa Galdino</cp:lastModifiedBy>
  <cp:revision>1</cp:revision>
  <dcterms:created xsi:type="dcterms:W3CDTF">2026-09-07T16:27:29Z</dcterms:created>
  <dcterms:modified xsi:type="dcterms:W3CDTF">2026-09-07T16:27:29Z</dcterms:modified>
</cp:coreProperties>
</file>