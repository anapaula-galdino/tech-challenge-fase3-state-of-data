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Apresentar o objetivo em uma frase: entender o mercado brasileiro de dados para orientar contratação, capacitação e investimento.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mensagens que sustentam todo o material. Cada uma vira uma decisão na última seção.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problema de negócio em três blocos. Fio condutor do material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Preparar a próxima seção: a base parece simples e não é. É aqui que o trabalho técnico começa.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Bronze guarda o dado cru, Silver harmoniza, Gold responde a pergunta de negócio. Athena consulta, Glue processa, tudo em us-east-1.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diferencial técnico do trabalho. Sem essa regra, toda a série histórica seria inválida sem que ninguém percebesse.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recomendação amarra em um número apresentado antes. Nenhuma opinião sem dado por trás.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Declarar limitação antes que o avaliador pergunte é o que separa análise de opinião.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retomando a promessa da abertura, citar o repositório público e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aPaula-Galdino/tech-challenge-fase3-state-of-data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aPaula-Galdino/tech-challenge-fase3-state-of-data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B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brasileiro de dados,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três edições da mesma pesquisa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8862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3  ·  Engenharia de Dados e Analytics em ambiente AWS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120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Paula Corrêa Galdino  ·  RM370461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440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POSTECH, Data Analytics (DTAT)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0" y="5440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SUMÁRIO EXECUTIVO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virou prioridade, o talento sênior encareceu e a diversidade regrediu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9164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60,6%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331720" y="1709928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respondentes dizem que a empresa prioriza IA generativa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2039112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Eram 36,2% duas edições atrás. Só 26,5% declaram projetos em produção gerando resultado.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898648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+40%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916936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faixa salarial mediana do profissional Sênior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3246120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Júnior e Pleno ficaram parados nas três edições. Contratar pronto encareceu, formar não.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105656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22,0%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4123944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participação feminina, em queda nas duas transições da série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44531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Eram 24,4% na primeira edição. A direção é a mesma nas três, não é oscilação de amostra.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5312664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39,7%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2331720" y="533095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trabalho totalmente remoto, contra 46,3% antes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5660136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modelos flexíveis pagam R$ 14.000 de mediana, contra R$ 7.000 no presencial integral.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Data Hackers e Bain, edições 2023-2024, 2024-2025 e 2025-2026.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do cliente depende de evidência que ele não 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3611880" cy="2880360"/>
          </a:xfrm>
          <a:prstGeom prst="roundRect">
            <a:avLst>
              <a:gd name="adj" fmla="val 1905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Expandir a área de dados e IA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95528" y="320040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instituição financeira de grande porte precisa definir contratação, capacitação e investimento em tecnologia.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611880" cy="2880360"/>
          </a:xfrm>
          <a:prstGeom prst="roundRect">
            <a:avLst>
              <a:gd name="adj" fmla="val 1905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6008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COMPLICAÇÃO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636008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Faltam evidências sobre o mercado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36008" y="320040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Salário, senioridade, stack e modelo de trabalho mudam rápido, e a percepção interna não acompanha.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83880" y="1691640"/>
            <a:ext cx="3611880" cy="2880360"/>
          </a:xfrm>
          <a:prstGeom prst="roundRect">
            <a:avLst>
              <a:gd name="adj" fmla="val 1905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76488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edições da mesma pesquisa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476488" y="320040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14.005 respostas do State of Data Brazil, processadas em um data lake na AWS e lidas como série histórica.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920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análises deste material respondem a uma dessas três decisões, e nenhuma recomendação aparece sem o número que a sustenta.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enunciado do Tech Challenge Fase 3 e pesquisa State of Data Brazil.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edições, mais de mil perguntas, uma base que não se une sozinha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031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14.005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9718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 nas três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edições da pesquisa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21031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1.190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9718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somadas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as edições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1031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9718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padrões diferentes 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nomenclatura de coluna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173736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0" y="21031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0" y="29718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que mudam 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significado entre edições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572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Edições utilizadas: 2023-2024, 2024-2025 e 2025-2026, as três últimas publicadas pelo Data Hackers, conforme exige o enunciado.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49560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tratamento restam 14.002 linhas: três registros eram duplicatas integralmente idênticas e foram removidos.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532180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arquivo foi aberto ou salvo em planilha antes da ingestão, para preservar codificação, separador e formato de origem na camada Bronze.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Data Hackers e Bain, edições 2023-2024, 2024-2025 e 2025-2026.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DA SOLUÇÃO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data lake em camadas, com todo o processamento em Spark</a:t>
            </a:r>
            <a:endParaRPr lang="en-US" sz="2800" dirty="0"/>
          </a:p>
        </p:txBody>
      </p:sp>
      <p:pic>
        <p:nvPicPr>
          <p:cNvPr id="4" name="Image 0" descr="/home/claude/fase3/figuras/deck/arquitetura_a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1124712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construído no Draw.io. Arquivo editável entregue junto com o material.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código da pergunta muda de significado entre as edições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6766560" cy="2514600"/>
          </a:xfrm>
          <a:prstGeom prst="roundRect">
            <a:avLst>
              <a:gd name="adj" fmla="val 181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10512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código 2.q, em três edições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677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2023-2024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226771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ocorrência de demissões em massa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51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2024-2025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26517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ocorrência de demissões em massa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0358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2025-2026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30358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trabalho atual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456432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Unir as bases pelo código produziria um gráfico comparando demissões com trabalho remoto, sem gerar erro algum na execução.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635240" y="173736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adotada: tripla confirmação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635240" y="2121408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da pergunta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integral da pergunta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categorias observadas nos dados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35240" y="3310128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entra na série histórica a coluna aprovada nos três critérios. O mapa completo das 237 perguntas equivalentes acompanha a entrega.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617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330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50749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existem nas três edições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4617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50749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deles mudam de pergunta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4617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50749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são equivalentes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4617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50749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delas trocaram de código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análise própria sobre os cabeçalhos das três edições da pesquisa.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DO MERCADO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Finanças e tecnologia concentram mais de um terço do mercado</a:t>
            </a:r>
            <a:endParaRPr lang="en-US" sz="2800" dirty="0"/>
          </a:p>
        </p:txBody>
      </p:sp>
      <p:pic>
        <p:nvPicPr>
          <p:cNvPr id="4" name="Image 0" descr="/home/claude/fase3/figuras/deck/fig08_s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estão os profissionais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maiores setores somam 36,0% dos respondentes. A diferença entre eles, de 1,1 ponto, não é significativa a 95% de confiança: é empate na liderança.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significa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disputa talento em um dos dois maiores empregadores de dados do país, contra concorrentes diretos e contra empresas de tecnologia.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edição 2025-2026, 3.227 respostas válidas para a pergunta de setor.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DO MERCADO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concentração no Sudeste aumentou em vez de ceder ao trabalho remoto</a:t>
            </a:r>
            <a:endParaRPr lang="en-US" sz="2800" dirty="0"/>
          </a:p>
        </p:txBody>
      </p:sp>
      <p:pic>
        <p:nvPicPr>
          <p:cNvPr id="4" name="Image 0" descr="/home/claude/fase3/figuras/deck/fig09_regi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crescente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Sudeste sai de 61,4% para 64,4% entre a primeira e a última edição, sem qualquer sinal de dispersão geográfica.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para contratação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talento fora do eixo tradicional continua sendo exceção, e não a regra do mercado.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Data Hackers e Bain, edições 2023-2024, 2024-2025 e 2025-2026.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VALORIZADOS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faixa mediana do Sênior subiu 40% e as de entrada não se moveram</a:t>
            </a:r>
            <a:endParaRPr lang="en-US" sz="2800" dirty="0"/>
          </a:p>
        </p:txBody>
      </p:sp>
      <p:pic>
        <p:nvPicPr>
          <p:cNvPr id="4" name="Image 0" descr="/home/claude/fase3/figuras/deck/fig03_salario_ni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6002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mudou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1929384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Sênior saiu de R$ 10.000 para R$ 14.000 entre a primeira e a segunda edição e estabilizou. Júnior e Pleno não se moveram.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0449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que isso força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374136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preço de entrada da senioridade subiu 40% e o do Pleno não subiu. Formar internamente ficou relativamente mais barato do que disputar Sênior pronto.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4897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topo novo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18888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edição 2025-2026 criou o nível Especialista/Staff+, com mediana de R$ 18.000 sobre 349 respostas. Por existir em uma só edição, ele fica fora da série histórica.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Brazil. Mediana do ponto médio da faixa declarada, não salário médio. Valores nominais, sem correção pela inflação do período.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VALORIZADOS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dados e machine learning lideram a mediana salarial</a:t>
            </a:r>
            <a:endParaRPr lang="en-US" sz="2800" dirty="0"/>
          </a:p>
        </p:txBody>
      </p:sp>
      <p:pic>
        <p:nvPicPr>
          <p:cNvPr id="4" name="Image 0" descr="/home/claude/fase3/figuras/deck/fig12_salario_car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6002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o mercado paga melhor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1929384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 AI Engineer lidera com mediana de R$ 18.000. Engenharia e Arquitetura de Dados, Analytics Engineer e Data Product Manager vêm em seguida, todos em R$ 14.000.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0449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distância dentro da área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374136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de Dados, de BI e de Negócios ficam em R$ 7.000, metade da mediana dos cargos de engenharia. O rótulo genérico de profissional de dados esconde uma diferença de duas vezes.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4897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para o cliente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18888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expansão prevê plataforma e IA, o orçamento por posição parte de R$ 14.000. Se prevê consumo analítico, parte de R$ 7.000.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edição 2025-2026. Cargos com menos de 30 respostas foram omitidos. Valores nominais.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DIVERSIDADE DE GÊNERO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participação feminina cai edição após edição, de 24,4% para 22,0%</a:t>
            </a:r>
            <a:endParaRPr lang="en-US" sz="2800" dirty="0"/>
          </a:p>
        </p:txBody>
      </p:sp>
      <p:pic>
        <p:nvPicPr>
          <p:cNvPr id="4" name="Image 0" descr="/home/claude/fase3/figuras/deck/fig01_genero_ser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Tendência, não ruído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2,5 pontos perdidos nas duas transições da série, sempre na mesma direção, sobre bases de 5.293, 5.215 e 3.494 respostas.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para o cliente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base que encolhe reduz o alcance de qualquer meta de diversidade construída sobre contratação externa.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Data Hackers e Bain, edições 2023-2024, 2024-2025 e 2025-2026.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DIVERSIDADE DE GÊNERO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Proporcionalmente, mais mulheres na entrada e menos no topo</a:t>
            </a:r>
            <a:endParaRPr lang="en-US" sz="2800" dirty="0"/>
          </a:p>
        </p:txBody>
      </p:sp>
      <p:pic>
        <p:nvPicPr>
          <p:cNvPr id="4" name="Image 0" descr="/home/claude/fase3/figuras/deck/fig02_genero_ni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funil aperta na senioridade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as mulheres, 25,8% estão no nível Júnior, contra 19,1% entre os homens. No Sênior a relação se inverte, 31,4% contra 35,2%.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agir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gargalo está na progressão, não apenas na porta de entrada. Programas de promoção interna atacam a causa certa.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edição 2025-2026. O nível Especialista/Staff+ existe apenas nesta edição.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domina e o SQL aparece ao lado dele, não no lugar</a:t>
            </a:r>
            <a:endParaRPr lang="en-US" sz="2800" dirty="0"/>
          </a:p>
        </p:txBody>
      </p:sp>
      <p:pic>
        <p:nvPicPr>
          <p:cNvPr id="4" name="Image 0" descr="/home/claude/fase3/figuras/deck/fig07_linguag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estável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é a linguagem preferida de forma dominante nas três edições, sem concorrente próximo.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 de formato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2025-2026 a pergunta passou a aceitar mais de uma resposta, por isso a métrica é a menção e a soma ultrapassa 100% naquela edição.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Brazil. Percentual de respondentes que citam a linguagem como preferida.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lidera na nuvem e o Power BI não tem concorrente em BI</a:t>
            </a:r>
            <a:endParaRPr lang="en-US" sz="2800" dirty="0"/>
          </a:p>
        </p:txBody>
      </p:sp>
      <p:pic>
        <p:nvPicPr>
          <p:cNvPr id="4" name="Image 0" descr="/home/claude/fase3/figuras/deck/fig13_ferrament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6002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Nuvem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1929384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é a preferida de 31,7% dos respondentes que declaram preferência, à frente de Google Cloud, com 20,6%, e Azure, com 14,7%.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0449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Visualização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374136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concentra 50,5% da preferência declarada, cinco vezes o segundo colocado. Nenhuma outra ferramenta passa de 10%.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4897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para o cliente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18888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deste projeto foi construída em AWS, a mesma nuvem em que o mercado tem mais gente pronta para contratar.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edição 2025-2026. Bases de 2.095 e 1.866 respostas válidas.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DE INTELIGÊNCIA ARTIFICIAL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adoção de IA quase dobrou enquanto a rejeição caiu pela metade</a:t>
            </a:r>
            <a:endParaRPr lang="en-US" sz="2800" dirty="0"/>
          </a:p>
        </p:txBody>
      </p:sp>
      <p:pic>
        <p:nvPicPr>
          <p:cNvPr id="4" name="Image 0" descr="/home/claude/fase3/figuras/deck/fig06_ia_ser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mudança do período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generativa passou de prioridade declarada por 36,2% dos respondentes para 60,6% em duas edições. Nenhum outro indicador se moveu tanto.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janela está aberta agora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estrutura a área de IA neste ciclo entra junto com o mercado. Quem esperar mais uma edição entra atrasado.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Brazil. A pergunta é respondida por quem trabalha em empresa: bases de 896, 1.045 e 652 respostas válidas.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DE INTELIGÊNCIA ARTIFICIAL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duas edições, a IA saiu da margem e virou pauta de orçamento</a:t>
            </a:r>
            <a:endParaRPr lang="en-US" sz="2800" dirty="0"/>
          </a:p>
        </p:txBody>
      </p:sp>
      <p:pic>
        <p:nvPicPr>
          <p:cNvPr id="4" name="Image 0" descr="/home/claude/fase3/figuras/deck/fig05_ia_priorid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detalhe da mudança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crescimento vem das duas faixas de prioridade declarada, com discussão de orçamento, e não de uso informal.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ficou para trás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11,4% dos respondentes dizem que a IA não é prioridade na empresa, contra 28,8% duas edições atrás.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Brazil. A pergunta é respondida por quem trabalha em empresa: bases de 896, 1.045 e 652 respostas válidas.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DE INTELIGÊNCIA ARTIFICIAL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prioridade já virou consenso, o resultado em produção ainda não</a:t>
            </a:r>
            <a:endParaRPr lang="en-US" sz="2800" dirty="0"/>
          </a:p>
        </p:txBody>
      </p:sp>
      <p:pic>
        <p:nvPicPr>
          <p:cNvPr id="4" name="Image 0" descr="/home/claude/fase3/figuras/deck/fig11_ia_impac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6002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tamanho da lacuna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1929384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Enquanto 60,6% declaram a IA como prioridade, apenas 26,5% dizem ter projetos em produção gerando resultado no negócio.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0449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mercado está parado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374136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38,4% mantêm pilotos rodando sem impacto declarado. Somados aos 15,0% em planejamento, mais da metade ainda não saiu da experimentação.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4897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oportunidade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18888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disputa deixou de ser por adotar IA e passou a ser por operacionalizar. Quem tira o piloto do papel primeiro captura o diferencial.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edição 2025-2026, 646 respostas válidas. Pergunta existente apenas nesta edição.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TRABALHO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remoto recua e o presencial avança</a:t>
            </a:r>
            <a:endParaRPr lang="en-US" sz="2800" dirty="0"/>
          </a:p>
        </p:txBody>
      </p:sp>
      <p:pic>
        <p:nvPicPr>
          <p:cNvPr id="4" name="Image 0" descr="/home/claude/fase3/figuras/deck/fig04_modelo_trabal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Movimento recente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remoto integral caiu 6,6 pontos e o presencial integral subiu 4,1, concentrados na última edição.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Contramão da preferência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que mais encolhe está entre os dois de maior satisfação declarada, empatados no topo, como mostra o gráfico seguinte.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Data Hackers e Bain, edições 2023-2024, 2024-2025 e 2025-2026.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Flexibilidade, e não o remoto puro, separa satisfeitos de insatisfeitos</a:t>
            </a:r>
            <a:endParaRPr lang="en-US" sz="2800" dirty="0"/>
          </a:p>
        </p:txBody>
      </p:sp>
      <p:pic>
        <p:nvPicPr>
          <p:cNvPr id="4" name="Image 0" descr="/home/claude/fase3/figuras/deck/fig10_satisfacao_mode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6002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os dados dizem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1929384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Remoto integral e híbrido flexível empatam no topo, com 74,5% e 75,0%. A diferença de 0,5 ponto não é significativa a 95%, com z igual a 0,23.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0449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está a diferença real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374136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separação está entre ter e não ter flexibilidade: 20,9 pontos entre o híbrido flexível, com 75,0%, e o presencial integral, com 54,0%.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4897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prática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18888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trabalho deixa de ser assunto administrativo e passa a ser instrumento de retenção de talento escasso.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edição 2025-2026. Bases de 1.281, 631, 645 e 670 respostas por modelo.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decisões que os dados sustentam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11155680" cy="132588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88920" y="185623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Contratar no meio da carreira e promover por dentro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2203704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faixa mediana do Sênior subiu 40% em duas edições e a do Pleno não se moveu. O prêmio pago por senioridade pronta cresceu, o custo de quem ainda vai chegar lá não, e a disputa acontece em um dos dois maiores empregadores de dados do país.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154680"/>
            <a:ext cx="11155680" cy="132588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788920" y="331927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IA generativa como competência de todo o time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3666744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em cada dez respondentes dizem que a empresa já priorizou IA, mas só 26,5% declaram projetos em produção gerando resultado. A vantagem competitiva não está mais em adotar, e sim em sair do piloto, o que depende de gente treinada dentro de casa.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4617720"/>
            <a:ext cx="11155680" cy="132588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800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788920" y="478231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flexibilidade de trabalho como instrumento de retenção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788920" y="5129784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modelos flexíveis pagam mediana de R$ 14.000, contra R$ 7.000 no presencial integral, e concentram a maior satisfação declarada. Com o remoto encolhendo 6,6 pontos no mercado, manter flexibilidade é alavanca de retenção e de custo ao mesmo tempo.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Data Hackers e Bain, edições 2023-2024, 2024-2025 e 2025-2026.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E LIMITAÇÕES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sustenta os números, e o que eles não podem dizer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73736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os números foram apurados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212848"/>
            <a:ext cx="5394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Arquivos originais preservados na camada Bronze, sem tratamento prévio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confirmadas por código, texto da pergunta e categorias observadas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de digitação da pesquisa de origem corrigidos e documentados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principais recalculados por caminho independente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Diferenças entre categorias testadas antes de virarem afirmação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355080" y="173736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os dados não permitem afirmar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355080" y="2212848"/>
            <a:ext cx="5303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pesquisa é voluntária: descreve a comunidade respondente, não o país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remuneração é coletada em faixas, então não existe salário médio aqui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valores são nominais: a variação não desconta a inflação do período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perguntas sobre IA são respondidas só por quem trabalha em empresa, com base menor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última edição tem menos respondentes, por isso toda comparação é percentual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de uma só edição não entram em série histórica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nível Especialista/Staff+ existe apenas na edição mais recente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51389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código, os notebooks executados e as consultas SQL acompanham a entrega e reproduzem estes números do zero.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550468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público com todo o material: </a:t>
            </a:r>
            <a:pPr indent="0" marL="0">
              <a:buNone/>
            </a:pPr>
            <a:r>
              <a:rPr lang="en-US" sz="1300" u="sng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github.com/AnaPaula-Galdino/tech-challenge-fase3-state-of-data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documentação de auditoria do projeto, entregue junto com o material.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B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514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Obrigada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42900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brasileiro de dados está mais caro no topo, mais concentrado do que parece e mais decidido sobre IA do que estava há dois anos. As três decisões deste material saem daí.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95604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material, código, notebooks e documentação: </a:t>
            </a:r>
            <a:pPr indent="0" marL="0">
              <a:buNone/>
            </a:pPr>
            <a:r>
              <a:rPr lang="en-US" sz="1300" u="sng" dirty="0">
                <a:solidFill>
                  <a:srgbClr val="8FBCD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github.com/AnaPaula-Galdino/tech-challenge-fase3-state-of-data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394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Paula Corrêa Galdino  ·  RM370461  ·  POSTECH Data Analytics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Challenge Fase 3, o mercado brasileiro de dados</dc:title>
  <dc:subject>PptxGenJS Presentation</dc:subject>
  <dc:creator>Ana Paula Correa Galdino</dc:creator>
  <cp:lastModifiedBy>Ana Paula Correa Galdino</cp:lastModifiedBy>
  <cp:revision>1</cp:revision>
  <dcterms:created xsi:type="dcterms:W3CDTF">2026-09-05T22:32:28Z</dcterms:created>
  <dcterms:modified xsi:type="dcterms:W3CDTF">2026-09-05T22:32:28Z</dcterms:modified>
</cp:coreProperties>
</file>